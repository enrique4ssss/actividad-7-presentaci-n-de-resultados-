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Old Standard TT"/>
      <p:regular r:id="rId24"/>
      <p:bold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ldStandardT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italic.fntdata"/><Relationship Id="rId25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9b3e514d_1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9b3e514d_1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9b3e514d_1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a9b3e514d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9b3e514d_1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a9b3e514d_1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9b3e514d_1_1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9b3e514d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9b3e514d_1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a9b3e514d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9b3e514d_1_1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a9b3e514d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9b3e514d_1_1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a9b3e514d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9b3e514d_1_1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a9b3e514d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9b3e514d_1_1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a9b3e514d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9b3e514d_15_1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a9b3e514d_15_1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9b3e514d_15_1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a9b3e514d_15_1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cripción y título de la sección (g3fa9b3e514d_8_0)">
  <p:cSld name="Descripción y título de la sección (g3fa9b3e514d_8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(g3fa9b3e514d_36_0)">
  <p:cSld name="Título y cuerpo (g3fa9b3e514d_36_0)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(g3fa9b3e514d_43_0)">
  <p:cSld name="Título y cuerpo (g3fa9b3e514d_43_0)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(g3fa9b3e514d_50_0)">
  <p:cSld name="Título y cuerpo (g3fa9b3e514d_50_0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Airbnb - Munich, Alemania</a:t>
            </a:r>
            <a:endParaRPr/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Enrique Rosales Mijangos - A01735074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Proceso de filtrado y extracción de datos</a:t>
            </a:r>
            <a:endParaRPr/>
          </a:p>
        </p:txBody>
      </p:sp>
      <p:grpSp>
        <p:nvGrpSpPr>
          <p:cNvPr id="84" name="Google Shape;84;p18"/>
          <p:cNvGrpSpPr/>
          <p:nvPr/>
        </p:nvGrpSpPr>
        <p:grpSpPr>
          <a:xfrm>
            <a:off x="428625" y="1381125"/>
            <a:ext cx="1857300" cy="3238500"/>
            <a:chOff x="0" y="0"/>
            <a:chExt cx="1857300" cy="3238500"/>
          </a:xfrm>
        </p:grpSpPr>
        <p:sp>
          <p:nvSpPr>
            <p:cNvPr id="85" name="Google Shape;85;p18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8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01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Conversión y Extracción Temporal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Transformación de campos tipo fecha (host_since) a datetime para calcular y extraer la antigüedad del anfitrión convertida en años y meses enteros.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8"/>
          <p:cNvGrpSpPr/>
          <p:nvPr/>
        </p:nvGrpSpPr>
        <p:grpSpPr>
          <a:xfrm>
            <a:off x="2571750" y="1381125"/>
            <a:ext cx="1857300" cy="3238500"/>
            <a:chOff x="0" y="0"/>
            <a:chExt cx="1857300" cy="3238500"/>
          </a:xfrm>
        </p:grpSpPr>
        <p:sp>
          <p:nvSpPr>
            <p:cNvPr id="88" name="Google Shape;88;p18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02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Procesamiento de Cadenas Complejas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Parseo de la columna amenities mediante ast.literal_eval para descomponer arreglos de texto en listas y extraer las 3 amenidades principales (amenitie_1, amenitie_2, amenitie_3).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8"/>
          <p:cNvGrpSpPr/>
          <p:nvPr/>
        </p:nvGrpSpPr>
        <p:grpSpPr>
          <a:xfrm>
            <a:off x="4714875" y="1381125"/>
            <a:ext cx="1857300" cy="3238500"/>
            <a:chOff x="0" y="0"/>
            <a:chExt cx="1857300" cy="3238500"/>
          </a:xfrm>
        </p:grpSpPr>
        <p:sp>
          <p:nvSpPr>
            <p:cNvPr id="91" name="Google Shape;91;p18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03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Manejo de Tipos de Datos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Conversión explícita de variables cuantitativas clave (host_listings_count, precios, antigüedades) mediante pd.to_numeric para habilitar el cálculo de estadísticos.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3" name="Google Shape;93;p18"/>
          <p:cNvGrpSpPr/>
          <p:nvPr/>
        </p:nvGrpSpPr>
        <p:grpSpPr>
          <a:xfrm>
            <a:off x="6858000" y="1381125"/>
            <a:ext cx="1857300" cy="3238500"/>
            <a:chOff x="0" y="0"/>
            <a:chExt cx="1857300" cy="3238500"/>
          </a:xfrm>
        </p:grpSpPr>
        <p:sp>
          <p:nvSpPr>
            <p:cNvPr id="94" name="Google Shape;94;p18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8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04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Subselección Estructurada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Creación de subconjuntos de datos dinámicos descartando filas nulas sin afectar el DataFrame global.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b) Imputación de Valores Nulos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9"/>
          <p:cNvGrpSpPr/>
          <p:nvPr/>
        </p:nvGrpSpPr>
        <p:grpSpPr>
          <a:xfrm>
            <a:off x="428625" y="1381125"/>
            <a:ext cx="2667000" cy="3238500"/>
            <a:chOff x="0" y="0"/>
            <a:chExt cx="2667000" cy="3238500"/>
          </a:xfrm>
        </p:grpSpPr>
        <p:sp>
          <p:nvSpPr>
            <p:cNvPr id="103" name="Google Shape;103;p19"/>
            <p:cNvSpPr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9"/>
            <p:cNvSpPr txBox="1"/>
            <p:nvPr/>
          </p:nvSpPr>
          <p:spPr>
            <a:xfrm>
              <a:off x="0" y="0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01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Imputación Numérica</a:t>
              </a:r>
              <a:endParaRPr b="0" sz="14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Uso de la media para variables continuas y la mediana para discretas, adaptando la estrategia según el tipo de distribución para evitar sesgos numéricos.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9"/>
          <p:cNvGrpSpPr/>
          <p:nvPr/>
        </p:nvGrpSpPr>
        <p:grpSpPr>
          <a:xfrm>
            <a:off x="4378500" y="1381122"/>
            <a:ext cx="2667000" cy="3238500"/>
            <a:chOff x="0" y="322898"/>
            <a:chExt cx="2667000" cy="3238500"/>
          </a:xfrm>
        </p:grpSpPr>
        <p:sp>
          <p:nvSpPr>
            <p:cNvPr id="106" name="Google Shape;106;p19"/>
            <p:cNvSpPr/>
            <p:nvPr/>
          </p:nvSpPr>
          <p:spPr>
            <a:xfrm>
              <a:off x="0" y="322897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 txBox="1"/>
            <p:nvPr/>
          </p:nvSpPr>
          <p:spPr>
            <a:xfrm>
              <a:off x="0" y="322897"/>
              <a:ext cx="2667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02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Imputación Categórica</a:t>
              </a:r>
              <a:endParaRPr b="0" sz="14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Aplicación de métodos de imputación diseñados para variables cualitativas, preservando las frecuencias relativas sin distorsionar la naturaleza categórica de los datos.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c) Tratamiento de Valores Atípicos</a:t>
            </a:r>
            <a:endParaRPr/>
          </a:p>
        </p:txBody>
      </p:sp>
      <p:grpSp>
        <p:nvGrpSpPr>
          <p:cNvPr id="114" name="Google Shape;114;p20"/>
          <p:cNvGrpSpPr/>
          <p:nvPr/>
        </p:nvGrpSpPr>
        <p:grpSpPr>
          <a:xfrm>
            <a:off x="428625" y="1381125"/>
            <a:ext cx="1857300" cy="3238500"/>
            <a:chOff x="0" y="0"/>
            <a:chExt cx="1857300" cy="3238500"/>
          </a:xfrm>
        </p:grpSpPr>
        <p:sp>
          <p:nvSpPr>
            <p:cNvPr id="115" name="Google Shape;115;p20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0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01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Criterio IQR Adaptativo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Cálculo del Límite Superior ($Q3 + 1.5 \times IQR$) para identificar y separar extremos en variables continuas y de conteo.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20"/>
          <p:cNvGrpSpPr/>
          <p:nvPr/>
        </p:nvGrpSpPr>
        <p:grpSpPr>
          <a:xfrm>
            <a:off x="2571750" y="1381125"/>
            <a:ext cx="1857300" cy="3238500"/>
            <a:chOff x="0" y="0"/>
            <a:chExt cx="1857300" cy="3238500"/>
          </a:xfrm>
        </p:grpSpPr>
        <p:sp>
          <p:nvSpPr>
            <p:cNvPr id="118" name="Google Shape;118;p20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02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Ajuste para Sesgos Altos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Implementación del cuantil 95 (quantile(0.95)) como límite cuando el IQR se anulaba por concentración masiva de datos en un solo valor.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" name="Google Shape;120;p20"/>
          <p:cNvGrpSpPr/>
          <p:nvPr/>
        </p:nvGrpSpPr>
        <p:grpSpPr>
          <a:xfrm>
            <a:off x="4714875" y="1381125"/>
            <a:ext cx="1857300" cy="3238500"/>
            <a:chOff x="0" y="0"/>
            <a:chExt cx="1857300" cy="3238500"/>
          </a:xfrm>
        </p:grpSpPr>
        <p:sp>
          <p:nvSpPr>
            <p:cNvPr id="121" name="Google Shape;121;p20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03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Consistencia Discreta / Entera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Redondeo y forzado de bordes a enteros únicos (int) con np.unique y np.linspace para descartar intervalos con decimales incorrectos.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" name="Google Shape;123;p20"/>
          <p:cNvGrpSpPr/>
          <p:nvPr/>
        </p:nvGrpSpPr>
        <p:grpSpPr>
          <a:xfrm>
            <a:off x="6858000" y="1381125"/>
            <a:ext cx="1857300" cy="3238500"/>
            <a:chOff x="0" y="0"/>
            <a:chExt cx="1857300" cy="3238500"/>
          </a:xfrm>
        </p:grpSpPr>
        <p:sp>
          <p:nvSpPr>
            <p:cNvPr id="124" name="Google Shape;124;p20"/>
            <p:cNvSpPr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 txBox="1"/>
            <p:nvPr/>
          </p:nvSpPr>
          <p:spPr>
            <a:xfrm>
              <a:off x="0" y="0"/>
              <a:ext cx="18573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04</a:t>
              </a:r>
              <a:endParaRPr b="0" sz="28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Intervalos de Sturges</a:t>
              </a:r>
              <a:endParaRPr b="1" sz="14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Categorización mediante pd.cut y duplicates='drop' asegurando etiquetas descriptivas tipo "1 a 2" y descartando solapamientos.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21"/>
          <p:cNvCxnSpPr/>
          <p:nvPr/>
        </p:nvCxnSpPr>
        <p:spPr>
          <a:xfrm>
            <a:off x="3771900" y="4495505"/>
            <a:ext cx="686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" name="Google Shape;132;p21"/>
          <p:cNvGrpSpPr/>
          <p:nvPr/>
        </p:nvGrpSpPr>
        <p:grpSpPr>
          <a:xfrm>
            <a:off x="428625" y="381000"/>
            <a:ext cx="2476500" cy="4381500"/>
            <a:chOff x="0" y="0"/>
            <a:chExt cx="2476500" cy="4381500"/>
          </a:xfrm>
        </p:grpSpPr>
        <p:sp>
          <p:nvSpPr>
            <p:cNvPr id="133" name="Google Shape;133;p21"/>
            <p:cNvSpPr/>
            <p:nvPr/>
          </p:nvSpPr>
          <p:spPr>
            <a:xfrm>
              <a:off x="0" y="0"/>
              <a:ext cx="2476500" cy="438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0" y="0"/>
              <a:ext cx="24765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34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Principal amenidad</a:t>
              </a:r>
              <a:endParaRPr b="0" sz="34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s-419" sz="1600">
                  <a:solidFill>
                    <a:srgbClr val="000000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Seguridad y Confort Secundario</a:t>
              </a:r>
              <a:endParaRPr b="1" sz="16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Las cámaras de seguridad exteriores y los artículos de cama completan el Top 5, reflejando aspectos esenciales de la estancia.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s-419" sz="1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12.1%</a:t>
              </a:r>
              <a:r>
                <a:rPr b="1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Cámaras (467)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-419" sz="18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11.2%</a:t>
              </a:r>
              <a:r>
                <a:rPr b="1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Bed Linens (430)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s-419" sz="1050">
                  <a:solidFill>
                    <a:srgbClr val="7A7A7A"/>
                  </a:solidFill>
                  <a:latin typeface="Inter"/>
                  <a:ea typeface="Inter"/>
                  <a:cs typeface="Inter"/>
                  <a:sym typeface="Inter"/>
                </a:rPr>
                <a:t>Indica que la percepción de seguridad e higiene básica son puntos clave, aunque con menor prioridad en la oferta inicial.</a:t>
              </a:r>
              <a:endParaRPr i="1" sz="1050">
                <a:solidFill>
                  <a:srgbClr val="7A7A7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301" y="875475"/>
            <a:ext cx="5349800" cy="339255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381000" y="476250"/>
            <a:ext cx="25242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32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Tipos de propiedad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s-419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54.3%</a:t>
            </a:r>
            <a:endParaRPr b="1" sz="56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Mayoría absoluta</a:t>
            </a:r>
            <a:endParaRPr b="1" sz="10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Las unidades de renta completas (</a:t>
            </a:r>
            <a:r>
              <a:rPr b="1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Entire rental unit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) representan </a:t>
            </a:r>
            <a:r>
              <a:rPr b="1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3,726 propiedades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del mercado.</a:t>
            </a:r>
            <a:endParaRPr b="0" sz="115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Esto señala que más de la mitad de la oferta está orientada a viajeros que buscan privacidad total y espacios independientes.</a:t>
            </a:r>
            <a:endParaRPr b="0" sz="115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101" y="1216762"/>
            <a:ext cx="5524201" cy="2709975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3771900" y="4495505"/>
            <a:ext cx="686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23"/>
          <p:cNvSpPr txBox="1"/>
          <p:nvPr/>
        </p:nvSpPr>
        <p:spPr>
          <a:xfrm>
            <a:off x="381000" y="476250"/>
            <a:ext cx="25242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Superhost</a:t>
            </a:r>
            <a:endParaRPr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20.9%</a:t>
            </a:r>
            <a:endParaRPr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Masa crítica relevante</a:t>
            </a:r>
            <a:endParaRPr sz="10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Los anfitriones con estatus de Superhost alcanzan este porcentaje con </a:t>
            </a: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1,432 propiedades</a:t>
            </a:r>
            <a:r>
              <a:rPr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5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Aunque representan una quinta parte de la oferta, conforman un segmento prémium definido por altos estándares, baja cancelación y alta frecuencia de respuesta.</a:t>
            </a:r>
            <a:endParaRPr sz="115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8075" y="1323975"/>
            <a:ext cx="5041200" cy="24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24"/>
          <p:cNvCxnSpPr/>
          <p:nvPr/>
        </p:nvCxnSpPr>
        <p:spPr>
          <a:xfrm>
            <a:off x="3771900" y="4495505"/>
            <a:ext cx="686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24"/>
          <p:cNvSpPr txBox="1"/>
          <p:nvPr/>
        </p:nvSpPr>
        <p:spPr>
          <a:xfrm>
            <a:off x="381000" y="476250"/>
            <a:ext cx="25242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32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Principales barrios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12.7%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Liderazgo del mercado</a:t>
            </a:r>
            <a:endParaRPr b="1" sz="10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Ludwigsvorstadt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domina la oferta (869 propiedades) al albergar la Estación Central y el recinto del Oktoberfest, siendo el principal hub logístico.</a:t>
            </a:r>
            <a:endParaRPr b="0" sz="115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En segundo lugar, </a:t>
            </a: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Maxvorstadt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destaca con un </a:t>
            </a: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7.7%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(529) impulsado por su dinámico perfil universitario y cultural.</a:t>
            </a:r>
            <a:endParaRPr b="0" sz="115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60" r="60" t="0"/>
          <a:stretch/>
        </p:blipFill>
        <p:spPr>
          <a:xfrm>
            <a:off x="3409950" y="1216762"/>
            <a:ext cx="5524500" cy="27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5"/>
          <p:cNvCxnSpPr/>
          <p:nvPr/>
        </p:nvCxnSpPr>
        <p:spPr>
          <a:xfrm>
            <a:off x="3771900" y="4495505"/>
            <a:ext cx="686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25"/>
          <p:cNvSpPr txBox="1"/>
          <p:nvPr>
            <p:ph idx="1" type="subTitle"/>
          </p:nvPr>
        </p:nvSpPr>
        <p:spPr>
          <a:xfrm>
            <a:off x="381000" y="476250"/>
            <a:ext cx="25242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32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Satisfacción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96.5%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Calificación Alta (4-5)</a:t>
            </a:r>
            <a:endParaRPr b="0" sz="10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La satisfacción del cliente exhibe un sesgo positivo masivo con </a:t>
            </a:r>
            <a:r>
              <a:rPr b="1" lang="es-419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6,628 propiedades</a:t>
            </a: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que cumplen o superan consistentemente las expectativas.</a:t>
            </a:r>
            <a:endParaRPr b="0" sz="11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Las evaluaciones intermedias y bajas son residuales: la categoría Media (3) representa apenas un </a:t>
            </a:r>
            <a:r>
              <a:rPr b="1" lang="es-419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2.9%</a:t>
            </a: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y la Baja (1-2) registra solo un </a:t>
            </a:r>
            <a:r>
              <a:rPr b="1" lang="es-419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0.6%</a:t>
            </a:r>
            <a:r>
              <a:rPr b="0" lang="es-419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189" r="189" t="0"/>
          <a:stretch/>
        </p:blipFill>
        <p:spPr>
          <a:xfrm>
            <a:off x="3648075" y="1323975"/>
            <a:ext cx="5041200" cy="24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26"/>
          <p:cNvCxnSpPr/>
          <p:nvPr/>
        </p:nvCxnSpPr>
        <p:spPr>
          <a:xfrm>
            <a:off x="3771900" y="4495505"/>
            <a:ext cx="686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26"/>
          <p:cNvSpPr txBox="1"/>
          <p:nvPr>
            <p:ph idx="1" type="subTitle"/>
          </p:nvPr>
        </p:nvSpPr>
        <p:spPr>
          <a:xfrm>
            <a:off x="381000" y="476250"/>
            <a:ext cx="25242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32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Distribución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41.2%</a:t>
            </a:r>
            <a:endParaRPr b="0"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Segmento Medio-Alto</a:t>
            </a:r>
            <a:endParaRPr b="0" sz="10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Concentración masiva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de la oferta en el rango de €209 a €238 por noche, acumulando un total de 2,633 propiedades.</a:t>
            </a:r>
            <a:endParaRPr b="0" sz="11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Los rangos de €62 a €150 capturan el </a:t>
            </a: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30.5%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 de opciones accesibles, mientras que el sector prémium decae drásticamente.</a:t>
            </a:r>
            <a:endParaRPr b="0" sz="11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3409950" y="1295400"/>
            <a:ext cx="5524500" cy="2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27"/>
          <p:cNvCxnSpPr/>
          <p:nvPr/>
        </p:nvCxnSpPr>
        <p:spPr>
          <a:xfrm>
            <a:off x="3771900" y="4495505"/>
            <a:ext cx="6864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6A6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7"/>
          <p:cNvSpPr txBox="1"/>
          <p:nvPr>
            <p:ph type="title"/>
          </p:nvPr>
        </p:nvSpPr>
        <p:spPr>
          <a:xfrm>
            <a:off x="381000" y="476250"/>
            <a:ext cx="25242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Disponibilidad</a:t>
            </a:r>
            <a:endParaRPr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40.8%</a:t>
            </a:r>
            <a:endParaRPr sz="320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Alquiler Ocasional</a:t>
            </a:r>
            <a:endParaRPr sz="10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Predominio ocasional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: El rango de 0 a 26 días concentra la mayor parte de la oferta (2,802 propiedades).</a:t>
            </a:r>
            <a:endParaRPr sz="11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Por otro lado, el sector profesional de tiempo completo (338 a 365 días) representa solo un </a:t>
            </a:r>
            <a:r>
              <a:rPr b="1" lang="es-419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9.5%</a:t>
            </a:r>
            <a:r>
              <a:rPr b="0" lang="es-419" sz="11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50">
              <a:solidFill>
                <a:srgbClr val="26A69A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3409950" y="1295400"/>
            <a:ext cx="5524500" cy="2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8"/>
          <p:cNvGrpSpPr/>
          <p:nvPr/>
        </p:nvGrpSpPr>
        <p:grpSpPr>
          <a:xfrm>
            <a:off x="571500" y="762000"/>
            <a:ext cx="2286000" cy="2857500"/>
            <a:chOff x="0" y="0"/>
            <a:chExt cx="2286000" cy="2857500"/>
          </a:xfrm>
        </p:grpSpPr>
        <p:sp>
          <p:nvSpPr>
            <p:cNvPr id="188" name="Google Shape;188;p28"/>
            <p:cNvSpPr txBox="1"/>
            <p:nvPr/>
          </p:nvSpPr>
          <p:spPr>
            <a:xfrm>
              <a:off x="0" y="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56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P</a:t>
              </a:r>
              <a:r>
                <a:rPr b="0" lang="es-419" sz="56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erfil</a:t>
              </a:r>
              <a:endParaRPr b="0" sz="56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Análisis de los segmentos de visitantes y patrones de demanda en la plataforma.</a:t>
              </a:r>
              <a:endParaRPr b="0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9" name="Google Shape;189;p28"/>
            <p:cNvCxnSpPr/>
            <p:nvPr/>
          </p:nvCxnSpPr>
          <p:spPr>
            <a:xfrm>
              <a:off x="0" y="209550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26A69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0" name="Google Shape;190;p28"/>
          <p:cNvGrpSpPr/>
          <p:nvPr/>
        </p:nvGrpSpPr>
        <p:grpSpPr>
          <a:xfrm>
            <a:off x="3238500" y="571500"/>
            <a:ext cx="2571900" cy="4000500"/>
            <a:chOff x="0" y="0"/>
            <a:chExt cx="2571900" cy="4000500"/>
          </a:xfrm>
        </p:grpSpPr>
        <p:sp>
          <p:nvSpPr>
            <p:cNvPr id="191" name="Google Shape;191;p28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4444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8"/>
            <p:cNvSpPr txBox="1"/>
            <p:nvPr/>
          </p:nvSpPr>
          <p:spPr>
            <a:xfrm>
              <a:off x="0" y="0"/>
              <a:ext cx="2571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Predominante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2000">
                  <a:solidFill>
                    <a:srgbClr val="FFFBF0"/>
                  </a:solidFill>
                  <a:latin typeface="Inter"/>
                  <a:ea typeface="Inter"/>
                  <a:cs typeface="Inter"/>
                  <a:sym typeface="Inter"/>
                </a:rPr>
                <a:t>Viajero Práctico</a:t>
              </a:r>
              <a:endParaRPr b="1" sz="2000">
                <a:solidFill>
                  <a:srgbClr val="FFFB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54.3% de la demanda</a:t>
              </a:r>
              <a:endParaRPr b="1" sz="1100">
                <a:solidFill>
                  <a:srgbClr val="26A6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Perfil corporativo e independiente de estancia corta que prioriza privacidad y excelente conectividad.</a:t>
              </a:r>
              <a:endParaRPr b="0" sz="11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Tarifas medias-altas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FFFBF0"/>
                  </a:solidFill>
                  <a:latin typeface="Inter"/>
                  <a:ea typeface="Inter"/>
                  <a:cs typeface="Inter"/>
                  <a:sym typeface="Inter"/>
                </a:rPr>
                <a:t>€209 - €238 </a:t>
              </a:r>
              <a:r>
                <a:rPr b="0" lang="es-419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/ noche</a:t>
              </a:r>
              <a:endParaRPr b="1" sz="1400">
                <a:solidFill>
                  <a:srgbClr val="FFFB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Zonas clave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FFFBF0"/>
                  </a:solidFill>
                  <a:latin typeface="Inter"/>
                  <a:ea typeface="Inter"/>
                  <a:cs typeface="Inter"/>
                  <a:sym typeface="Inter"/>
                </a:rPr>
                <a:t>Ludwigsvorstadt, Maxvorstadt</a:t>
              </a:r>
              <a:endParaRPr b="0" sz="1100">
                <a:solidFill>
                  <a:srgbClr val="FFFBF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100">
                <a:solidFill>
                  <a:srgbClr val="FFFB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p28"/>
          <p:cNvGrpSpPr/>
          <p:nvPr/>
        </p:nvGrpSpPr>
        <p:grpSpPr>
          <a:xfrm>
            <a:off x="6000750" y="571500"/>
            <a:ext cx="2571900" cy="4000500"/>
            <a:chOff x="0" y="0"/>
            <a:chExt cx="2571900" cy="4000500"/>
          </a:xfrm>
        </p:grpSpPr>
        <p:sp>
          <p:nvSpPr>
            <p:cNvPr id="194" name="Google Shape;194;p28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AE6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8"/>
            <p:cNvSpPr txBox="1"/>
            <p:nvPr/>
          </p:nvSpPr>
          <p:spPr>
            <a:xfrm>
              <a:off x="0" y="0"/>
              <a:ext cx="2571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Escala Menor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2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Joven y Cultural</a:t>
              </a:r>
              <a:endParaRPr b="1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Presupuesto moderado</a:t>
              </a:r>
              <a:endParaRPr b="1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707070"/>
                  </a:solidFill>
                  <a:latin typeface="Inter"/>
                  <a:ea typeface="Inter"/>
                  <a:cs typeface="Inter"/>
                  <a:sym typeface="Inter"/>
                </a:rPr>
                <a:t>Viajeros de ocio o presupuesto ajustado que optan por integrarse en vecindarios residenciales tranquilos.</a:t>
              </a:r>
              <a:endParaRPr b="0" sz="1100">
                <a:solidFill>
                  <a:srgbClr val="70707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Tarifas accesibles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€62 - €150 </a:t>
              </a:r>
              <a:r>
                <a:rPr b="0" lang="es-419" sz="1000">
                  <a:solidFill>
                    <a:srgbClr val="707070"/>
                  </a:solidFill>
                  <a:latin typeface="Inter"/>
                  <a:ea typeface="Inter"/>
                  <a:cs typeface="Inter"/>
                  <a:sym typeface="Inter"/>
                </a:rPr>
                <a:t>/ noche</a:t>
              </a:r>
              <a:endParaRPr b="1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Zonas clave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Au-Haidhausen, Schwabing-West</a:t>
              </a:r>
              <a:endParaRPr b="0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-419" sz="90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Preferencias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Habitaciones privadas</a:t>
              </a:r>
              <a:endParaRPr b="0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9"/>
          <p:cNvGrpSpPr/>
          <p:nvPr/>
        </p:nvGrpSpPr>
        <p:grpSpPr>
          <a:xfrm>
            <a:off x="571500" y="428625"/>
            <a:ext cx="8001000" cy="619125"/>
            <a:chOff x="0" y="0"/>
            <a:chExt cx="8001000" cy="619125"/>
          </a:xfrm>
        </p:grpSpPr>
        <p:sp>
          <p:nvSpPr>
            <p:cNvPr id="201" name="Google Shape;201;p29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solidFill>
                    <a:srgbClr val="26A69A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Recomendaciones para Inversionistas / Hosts</a:t>
              </a:r>
              <a:endParaRPr b="1" sz="3000">
                <a:solidFill>
                  <a:srgbClr val="26A69A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cxnSp>
          <p:nvCxnSpPr>
            <p:cNvPr id="202" name="Google Shape;202;p29"/>
            <p:cNvCxnSpPr/>
            <p:nvPr/>
          </p:nvCxnSpPr>
          <p:spPr>
            <a:xfrm>
              <a:off x="0" y="6191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26A69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3" name="Google Shape;203;p29"/>
          <p:cNvGrpSpPr/>
          <p:nvPr/>
        </p:nvGrpSpPr>
        <p:grpSpPr>
          <a:xfrm>
            <a:off x="571500" y="1333500"/>
            <a:ext cx="3762300" cy="1571700"/>
            <a:chOff x="0" y="0"/>
            <a:chExt cx="3762300" cy="1571700"/>
          </a:xfrm>
        </p:grpSpPr>
        <p:sp>
          <p:nvSpPr>
            <p:cNvPr id="204" name="Google Shape;204;p29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AE6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9"/>
            <p:cNvSpPr txBox="1"/>
            <p:nvPr/>
          </p:nvSpPr>
          <p:spPr>
            <a:xfrm>
              <a:off x="0" y="0"/>
              <a:ext cx="3762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5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1. Check-in Autónomo y Servicios Clave</a:t>
              </a:r>
              <a:endParaRPr b="1" sz="1250">
                <a:solidFill>
                  <a:srgbClr val="26A6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La tasa de Lockbox (18.6%), lavadora (39%) u horno (19.1%) indica que la autonomía es clave. Automatizar el acceso eleva la competitividad.</a:t>
              </a:r>
              <a:endParaRPr b="0" sz="10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29"/>
          <p:cNvGrpSpPr/>
          <p:nvPr/>
        </p:nvGrpSpPr>
        <p:grpSpPr>
          <a:xfrm>
            <a:off x="4810125" y="1333500"/>
            <a:ext cx="3762300" cy="1571700"/>
            <a:chOff x="0" y="0"/>
            <a:chExt cx="3762300" cy="1571700"/>
          </a:xfrm>
        </p:grpSpPr>
        <p:sp>
          <p:nvSpPr>
            <p:cNvPr id="207" name="Google Shape;207;p29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4848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9"/>
            <p:cNvSpPr txBox="1"/>
            <p:nvPr/>
          </p:nvSpPr>
          <p:spPr>
            <a:xfrm>
              <a:off x="0" y="0"/>
              <a:ext cx="3762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5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2. Estrategia para ser Superhost</a:t>
              </a:r>
              <a:endParaRPr b="1" sz="1250">
                <a:solidFill>
                  <a:srgbClr val="26A6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FFFBF0"/>
                  </a:solidFill>
                  <a:latin typeface="Inter"/>
                  <a:ea typeface="Inter"/>
                  <a:cs typeface="Inter"/>
                  <a:sym typeface="Inter"/>
                </a:rPr>
                <a:t>Con casi el 80% de oferta estándar, conseguir el estatus de Superhost (actualmente solo 20.9%) posiciona de inmediato la propiedad en la élite del mercado.</a:t>
              </a:r>
              <a:endParaRPr b="0" sz="1050">
                <a:solidFill>
                  <a:srgbClr val="FFFB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9" name="Google Shape;209;p29"/>
          <p:cNvGrpSpPr/>
          <p:nvPr/>
        </p:nvGrpSpPr>
        <p:grpSpPr>
          <a:xfrm>
            <a:off x="571500" y="3190875"/>
            <a:ext cx="3762300" cy="1571700"/>
            <a:chOff x="0" y="0"/>
            <a:chExt cx="3762300" cy="1571700"/>
          </a:xfrm>
        </p:grpSpPr>
        <p:sp>
          <p:nvSpPr>
            <p:cNvPr id="210" name="Google Shape;210;p29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AE6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9"/>
            <p:cNvSpPr txBox="1"/>
            <p:nvPr/>
          </p:nvSpPr>
          <p:spPr>
            <a:xfrm>
              <a:off x="0" y="0"/>
              <a:ext cx="3762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5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3. Gestión Activa de Precios (Dynamic Pricing)</a:t>
              </a:r>
              <a:endParaRPr b="1" sz="1250">
                <a:solidFill>
                  <a:srgbClr val="26A6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Ajustar tarifas según la temporalidad en la franja de €209 - €238 (ej. Oktoberfest) para maximizar ingresos y evitar tarifas bajas innecesarias.</a:t>
              </a:r>
              <a:endParaRPr b="0" sz="10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p29"/>
          <p:cNvGrpSpPr/>
          <p:nvPr/>
        </p:nvGrpSpPr>
        <p:grpSpPr>
          <a:xfrm>
            <a:off x="4810125" y="3190875"/>
            <a:ext cx="3762300" cy="1571700"/>
            <a:chOff x="0" y="0"/>
            <a:chExt cx="3762300" cy="1571700"/>
          </a:xfrm>
        </p:grpSpPr>
        <p:sp>
          <p:nvSpPr>
            <p:cNvPr id="213" name="Google Shape;213;p29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AE6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9"/>
            <p:cNvSpPr txBox="1"/>
            <p:nvPr/>
          </p:nvSpPr>
          <p:spPr>
            <a:xfrm>
              <a:off x="0" y="0"/>
              <a:ext cx="3762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50">
                  <a:solidFill>
                    <a:srgbClr val="26A69A"/>
                  </a:solidFill>
                  <a:latin typeface="Inter"/>
                  <a:ea typeface="Inter"/>
                  <a:cs typeface="Inter"/>
                  <a:sym typeface="Inter"/>
                </a:rPr>
                <a:t>4. Romper Barrera de Primeras Reseñas</a:t>
              </a:r>
              <a:endParaRPr b="1" sz="1250">
                <a:solidFill>
                  <a:srgbClr val="26A69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El 48.3% de las propiedades tiene 0-4 evaluaciones. Nuevos listings deben aplicar descuentos agresivos y solicitar feedback para ganar tracción.</a:t>
              </a:r>
              <a:endParaRPr b="0" sz="10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